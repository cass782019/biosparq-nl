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5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BioSPARQL-NL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AC4FF"/>
                </a:solidFill>
                <a:latin typeface="Calibri"/>
              </a:rPr>
              <a:t>Como fazer perguntas a bancos de dados de doenças
em linguagem natural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Cassiano Ricardo Neubauer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4FF"/>
                </a:solidFill>
                <a:latin typeface="Calibri"/>
              </a:rPr>
              <a:t>Orientador: Prof. Sandro J. Rigo  |  PPG Computação Aplicada — UNISINOS  |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desafio da pesquisa biomédica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33333"/>
                </a:solidFill>
                <a:latin typeface="Calibri"/>
              </a:rPr>
              <a:t>Imagine que você é médico e quer saber: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10058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  <a:latin typeface="Calibri"/>
              </a:rPr>
              <a:t>"Quais doenças causam perda de memória e afetam crianças?"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Os dados existem — mas estão em bancos estruturados que exigem
linguagem técnica para serem consultados.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Disease Ontology (DOID): banco com 12.000+ doenças catalogadas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Human Phenotype Ontology (HPO): 16.000+ sintomas e fenótipos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HPOA: 320.000+ associações doença-sintoma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são essas bases de dados?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Pense numa enciclopédia médica ultra-estruturada: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749039" cy="2743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DOID
(Doenças)
12.000+ doenças
organizadas por família
(ex: diabetes → doença metabólica)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94560"/>
            <a:ext cx="3749039" cy="2743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HPO
(Sintomas)
16.000+ fenótipos
(ex: perda de memória,
convulsões, icterícia)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3749039" cy="2743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HPOA
(Associações)
Quais doenças causam
quais sintomas —
320.000+ conexões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62828"/>
                </a:solidFill>
                <a:latin typeface="Calibri"/>
              </a:rPr>
              <a:t>Problema: consultar esses dados exige aprender uma linguagem técnica — SPARQL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 barreira técnica: SPARQL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Para consultar essas bases, um especialista precisaria escrever: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1097280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5D6A7"/>
                </a:solidFill>
                <a:latin typeface="Calibri"/>
              </a:rPr>
              <a:t>SELECT ?doenca ?label WHERE {
  GRAPH &lt;urn:hpoa&gt; { ?a hpoa:has_phenotype obo:HP_0002354 }
  GRAPH &lt;urn:doid&gt; { ?d rdfs:label ?label }
  BIND(REPLACE(?xref,"MIM:","OMIM:") AS ?omim)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vs. o que o usuário quer digitar: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371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D32"/>
                </a:solidFill>
                <a:latin typeface="Calibri"/>
              </a:rPr>
              <a:t>"Quais doenças causam perda de memória?"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Calibri"/>
              </a:rPr>
              <a:t>O BioSPARQL-NL faz essa tradução automaticamente.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Nossa proposta: BioSPARQL-NL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Pergunta
em português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256032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Pipeline
BioSPARQL-NL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Consulta
SPARQL válida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2560320" cy="1280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Resposta
do banco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Roda localmente no seu computador — seus dados nunca saem da sua máquina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Não exige que o usuário saiba SPARQL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Valida automaticamente se a consulta gerada é correta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Corrige erros e tenta novamente se necessário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Como funciona: arquitetura do pipeline</a:t>
            </a:r>
          </a:p>
        </p:txBody>
      </p:sp>
      <p:pic>
        <p:nvPicPr>
          <p:cNvPr id="5" name="Picture 4" descr="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943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645920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① Extrai entidades da pergunta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042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② Busca exemplos similares (few-shot)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62656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③ Monta prompt com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621024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④ LLM gera a consulta SPARQL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7939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⑤ Valida contra o esquema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37759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⑥ Executa no banco de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1: Entendendo a pergunta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sistema usa Inteligência Artificial (scispaCy) para identificar
entidades biomédicas na pergunta: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F3864"/>
                </a:solidFill>
                <a:latin typeface="Calibri"/>
              </a:rPr>
              <a:t>"Quais fenótipos estão associados à síndrome de Marfan?"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03320"/>
            <a:ext cx="94183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776472"/>
            <a:ext cx="9144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2E7D32"/>
                </a:solidFill>
                <a:latin typeface="Calibri"/>
              </a:rPr>
              <a:t>Reconhecido: "síndrome de Marfan"
→ URI: obo:DOID_0060618  (no banco de doenças)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Isso evita que a IA precise adivinhar como a doença está cadastrada no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2: Aprendendo com exemplos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sistema mantém uma biblioteca de 52 perguntas + consultas já validadas.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Quando chega uma nova pergunta, busca as 3 mais parecidas: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70632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"Sintomas do Alzheimer?"  [92% similar]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47288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"Fenótipos da doença de Huntington?"  [87% similar]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97096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70248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"Manifestações clínicas da esclerose múltipla?"  [81% similar]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Esses exemplos são incluídos no prompt da IA — ela aprende o padrão
antes de gerar a nova consulta. Isso reduz alucinações.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3: A IA gera a consulta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prompt enviado à IA contém: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Instruções sobre a estrutura dos bancos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Esquema: quais propriedades e classes existem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Exemplos de perguntas similares já resolvidas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A pergunta do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33333"/>
                </a:solidFill>
                <a:latin typeface="Calibri"/>
              </a:rPr>
              <a:t>Modelos testados (rodam localmente no seu PC):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54880"/>
            <a:ext cx="2651760" cy="14630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Gemma 3
4B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754880"/>
            <a:ext cx="26517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Nemotron Nano
4B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754880"/>
            <a:ext cx="265176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Qwen 3.5
9B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754880"/>
            <a:ext cx="265176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Claude Sonnet*
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* Claude Sonnet rodou via API como referência de teto de desempenho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4: Validação e autocorreção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62828"/>
                </a:solidFill>
                <a:latin typeface="Calibri"/>
              </a:rPr>
              <a:t>Problema: LLMs às vezes inventam propriedades que não existem no banco.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256032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267712"/>
            <a:ext cx="22860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SPARQL gerado
pela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94560"/>
            <a:ext cx="2560320" cy="10972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67712"/>
            <a:ext cx="22860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Validação
por esquema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21945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67712"/>
            <a:ext cx="192024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✓ Válida
→ executa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62828"/>
                </a:solidFill>
                <a:latin typeface="Calibri"/>
              </a:rPr>
              <a:t>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337560"/>
            <a:ext cx="2194560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10712"/>
            <a:ext cx="192024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✗ Inválida
→ corrige (até 2x)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A validação usa introspecção: o sistema extrai automaticamente do próprio banco
quais propriedades e classes existem — sem precisar de configuração manual.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55955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E7D32"/>
                </a:solidFill>
                <a:latin typeface="Calibri"/>
              </a:rPr>
              <a:t>Qwen 9B: de 0% → 50% de acerto só com esse mecanismo (+50pp)!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Exemplo real de funcionamento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1161288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73352"/>
            <a:ext cx="11338559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F3864"/>
                </a:solidFill>
                <a:latin typeface="Calibri"/>
              </a:rPr>
              <a:t>Pergunta: "What phenotypes are associated with Marfan syndrome?"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↓  SPARQL gerado e executado: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11612880" cy="16459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816352"/>
            <a:ext cx="113385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D6A7"/>
                </a:solidFill>
                <a:latin typeface="Calibri"/>
              </a:rPr>
              <a:t>SELECT DISTINCT ?phenoLabel WHERE {
  GRAPH &lt;urn:hpoa&gt; { ?ann hpoa:source_id "OMIM:154700" ;
                         hpoa:has_phenotype ?pheno }
  GRAPH &lt;urn:hpo&gt; { ?pheno rdfs:label ?phenoLabel }
} LIMIT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480560"/>
            <a:ext cx="116128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553712"/>
            <a:ext cx="113385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D32"/>
                </a:solidFill>
                <a:latin typeface="Calibri"/>
              </a:rPr>
              <a:t>Resultados: Arachnodactyly, Ectopia lentis, Aortic root aneurysm,
Scoliosis, Tall stature, Pectus excavatum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406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O usuário perguntou em inglês simples — o sistema consultou 3 bancos de dados e retornou os fenótipos.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Como avaliamos 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Criamos um gold standard: 52 perguntas com respostas esperadas verificadas por 2 anotadores.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3703320" cy="2926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Fácil
13 perguntas
1 grafo, 1 entidade
Ex: sintomas de diabetes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2286000"/>
            <a:ext cx="3703320" cy="2926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Médio
18 perguntas
2 grafos, múltiplas entidades
Ex: doenças com 5+ sintomas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3703320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Difícil
21 perguntas
3 grafos, joins complexos,
filtros MIM/OMIM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3949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Métrica principal: 'correção' — a consulta retornou os resultados esperados?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Os 4 modelos de IA testados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92608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2821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91640"/>
            <a:ext cx="22860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2821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Parâmetros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91640"/>
            <a:ext cx="30175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72821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Onde roda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691640"/>
            <a:ext cx="25603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72821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Custo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29260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240280"/>
            <a:ext cx="2286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2768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 bilhões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240280"/>
            <a:ext cx="30175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27685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Seu PC (GPU 8GB)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240280"/>
            <a:ext cx="25603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27685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Gratuito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2549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78892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8254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 bilhões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78892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82549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Seu PC (GPU 8GB)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78892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82549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Gratuito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37560"/>
            <a:ext cx="29260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7413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337560"/>
            <a:ext cx="2286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 bilhões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337560"/>
            <a:ext cx="30175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37413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Seu PC (CPU+GPU)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37413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Gratuito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20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92277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Claude Sonnet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88620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92277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não divulgado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88620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92277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Nuvem (API)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88620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392277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Pago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Os três primeiros rodam localmente — nenhum dado sai do seu computador.
Claude Sonnet serve como referência de teto (o melhor possível).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87959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Descoberta: um modelo de 4B parâmetros superou o de 9B — tamanho não é tudo!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Resultados: 30 questões primárias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 validação ativada (melhor cenário para cada modelo):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194560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2194560"/>
            <a:ext cx="6949440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212848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063239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3063239"/>
            <a:ext cx="434340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7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8152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931920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3931920"/>
            <a:ext cx="4082796" cy="6583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7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395020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A5F5"/>
                </a:solidFill>
                <a:latin typeface="Calibri"/>
              </a:rPr>
              <a:t>47%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65192"/>
            <a:ext cx="109728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Conclusão surpreendente:
Nemotron 4B (80%) &gt; Qwen 9B (50%)
Arquitetura importa mais que tamanho!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 validação faz diferença?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Comparação: com e sem o mecanismo de autocorreção por esquema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2004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3969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25603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3969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Sem validação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3969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 validação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103120"/>
            <a:ext cx="20116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13969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Ganho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79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3405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697479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73405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97479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697479"/>
            <a:ext cx="20116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73405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0,0pp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39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28415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2918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328415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86,7%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328415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80,0%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291839"/>
            <a:ext cx="2011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328415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-6,7pp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2277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886200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92277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0,0%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86200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92277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50,0%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886200"/>
            <a:ext cx="20116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92277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+50,0pp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Qwen: validação essencial — de 0% a 50% de acerto (sem ela, inútil!)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9379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Gemma: sem diferença — já gera consultas que passam na validação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24144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Nemotron: leve redução — valida corretamente mas rejeita alguns queries válidos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Resultado por nível de dificuldade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9260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2821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Fácil (10q)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Médio (10q)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Difícil (10q)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91640"/>
            <a:ext cx="18288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72821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29260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2257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32257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8036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91693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880360"/>
            <a:ext cx="1828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91693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9260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51129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3474720"/>
            <a:ext cx="18288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351129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Observações: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70916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Nemotron: desempenho uniforme (80% em todos os níveis) — mais confiável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3951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Qwen: melhor em difícil (70%) — bom em queries complexas com OPTIONAL/FILTER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69864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Gemma: mais rápido (4s/query) mas menos preciso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Local vs. Comercial: 52 questões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Avaliamos o Claude Sonnet (modelo comercial de referência) no gold standard completo,
junto com o melhor modelo local (Gemma 3 4B) para comparação: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32004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1401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16459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41401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Difícil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2377440"/>
            <a:ext cx="146304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241401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Sintaxe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0837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 (local)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971800"/>
            <a:ext cx="16459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300837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971800"/>
            <a:ext cx="146304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300837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661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60273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Claude Sonnet (nuvem)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56616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360273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82,7%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566160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360273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8404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33333"/>
                </a:solidFill>
                <a:latin typeface="Calibri"/>
              </a:rPr>
              <a:t>Claude: 43/52 corretas  ·  Gemma: 24/52 corretas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343400"/>
            <a:ext cx="850392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60" y="4416552"/>
            <a:ext cx="8229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Gap: 36,5 pontos percentuais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212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O Claude Sonnet tem 100% de sintaxe válida — nunca gera SPARQL quebrado.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trade-off: privacidade vs precisão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196169" cy="914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Gemma local  46,2%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9301368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Claude Sonnet  82,7%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Gemma local: dados ficam no seu PC, privacidade total — mas 36pp a menos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Claude Sonnet: máxima precisão — mas seus dados vão para a nuvem (API paga)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Para dados médicos sensíveis, o modelo local pode ser a escolha certa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Um PC com GPU de 8GB já é suficiente para rodar o Gemma 4B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cada componente contribui?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Estudo de ablação: removemos um componente por vez e medimos o impacto
(Gemma 3 4B, 30 questões)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34747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6829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331720"/>
            <a:ext cx="18288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23682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Sintaxe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331720"/>
            <a:ext cx="18288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23682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Correção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331720"/>
            <a:ext cx="292608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36829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Δ vs completo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07208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8437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Pipeline completo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807208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8437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807208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59" y="28437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50,0%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807208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84378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---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8269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19272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28269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3192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28269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59" y="33192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63,3%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82696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31927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+13,3pp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58183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794759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few-shot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758183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59" y="37947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758183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59" y="37947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758183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794759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-3,3pp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33672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270248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esquema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23367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59" y="4270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23367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59" y="4270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4233672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2702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-3,3pp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9160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4573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validação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4709160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59" y="474573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709160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59" y="474573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50,0%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709160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474573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0,0pp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8464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22122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Zero-shot (nada)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39" y="51846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4759" y="522122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51846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59" y="522122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66,7%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5184648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522122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+16,7pp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* NER (reconhecimento de entidades) piora o Gemma — injeta ruído para este modelo específico.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Achado 1: Validação é o componente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loop de autocorreção por esquema é essencial — veja o impacto sem ele: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40280"/>
            <a:ext cx="114300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Gemma 3 4B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474720" cy="10058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Com validação
46,2%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71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697480"/>
            <a:ext cx="347472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706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Sem validação
25,0%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697480"/>
            <a:ext cx="29260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70632"/>
            <a:ext cx="2651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−21,2pp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51960"/>
            <a:ext cx="114300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Claude Sonnet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347472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8231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Com validação
82,7%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983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709160"/>
            <a:ext cx="347472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478231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Sem validação
46,2%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709160"/>
            <a:ext cx="29260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782312"/>
            <a:ext cx="2651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−36,5pp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Achado 2: Arquitetura importa mais que tamanho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Comparando modelos de tamanhos diferentes: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19456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2194560"/>
            <a:ext cx="6803136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Nemotron Nano (4 bilhões)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17736" y="221284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15468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3154680"/>
            <a:ext cx="4251960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Qwen 3.5 (9 bilhões)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11480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4114800"/>
            <a:ext cx="3996842" cy="7132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7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Gemma 3 (4 bilhões)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1442" y="4133087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A5F5"/>
                </a:solidFill>
                <a:latin typeface="Calibri"/>
              </a:rP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Nemotron Nano tem 4B parâmetros (MENOS que o Qwen 9B) mas acerta 80% vs 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33872"/>
            <a:ext cx="10972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Conclusão: a arquitetura e o treinamento do modelo são mais determinantes
que o número de parâmetros para gerar SPARQL biomédico correto.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Interface explicável (XAI)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Interface web desenvolvida em React +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O usuário digita a pergunta em linguagem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Cada etapa do pipeline é mostrada em tempo real: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Entidades reconhecidas (NER)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Exemplos recuperados (few-shot)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Consulta SPARQL gerada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Resultado da validação e tentativas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Resultado final do banco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Alinhada com princípios de IA Explicável (XAI): nada é 'caixa preta'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ainda não funciona bem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926080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76479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Hardware como gargalo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Modelos ≤4B rodam bem em GPU 8GB. O Qwen 9B é 15x mais lento (63s por query). Modelos maiores (&gt;20B) não cabem em hardware comum.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337560"/>
            <a:ext cx="292608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41071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Convenções idiossincráticas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47472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9 perguntas (17%) falham mesmo com o Claude Sonnet. Envolvem incompatibilidades técnicas entre bases (ex: DOID usa 'MIM:' mas HPOA usa 'OMIM:').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98348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983480"/>
            <a:ext cx="292608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05663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Variabilidade estocástica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12064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O Gemma 3 4B variou ±3 acertos entre execuções idênticas (temperature=0.1). Resultados não são 100% determinísticos.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Comparação: 7 modelos (52 questões)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07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Correção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070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Sintaxe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2070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Observação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733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BioGPT 1.5B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733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733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0,0%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673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GPT-2 style — sem instruction-following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3317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BioMedLM 2.7B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 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31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31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GPT-2 style — sem instruction-following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90087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Gemma 3 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90087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46,2%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90087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75,0%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990087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Modelo geral (baseline)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02736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4845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OpenBioLLM-8B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6484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57,7%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48456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61,5%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64845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Biomédico — instruct fraco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61104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30682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Llama3-Med42-8B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30682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67,3%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30682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90,4%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30682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Biomédico — instruct forte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19472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9651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Qwen3-VL-8B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9651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  <a:latin typeface="Calibri"/>
              </a:rPr>
              <a:t>78,8%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9651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98,1%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9651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Geral multimodal — melhor local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77840"/>
            <a:ext cx="1161288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6235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Claude Sonnet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623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62828"/>
                </a:solidFill>
                <a:latin typeface="Calibri"/>
              </a:rPr>
              <a:t>82,7%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6235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100,0%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623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Upper bound comercial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Generalização: QALD-9+ (DBpedia)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Pergunta: o pipeline funciona em outros domínios além do biomédico?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Testamos o Gemma 3 4B sobre 30 perguntas do benchmark público QALD-9+ (DBpedia) — sem adaptação de domínio.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4747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Execução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SPARQL enviado ao DBpedia e aceito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97480"/>
            <a:ext cx="34747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65100"/>
                </a:solidFill>
                <a:latin typeface="Calibri"/>
              </a:rPr>
              <a:t>0,106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F1 médio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Poucos resultados corretos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697480"/>
            <a:ext cx="34747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62828"/>
                </a:solidFill>
                <a:latin typeface="Calibri"/>
              </a:rPr>
              <a:t>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Exact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Apenas 1/30 perfeito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  <a:latin typeface="Calibri"/>
              </a:rPr>
              <a:t>Conclusão: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 pipeline gera SPARQL válido em outros domínios (80% execução), mas precisa de exemplos e esquema
específicos do domínio alvo para acertar semanticamente. A transferência sintática funciona; a semântica não.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 achados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59436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Validação é essencial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Gemma: 46% → 25% sem ela; Claude: 83% → 46% — o loop de autocorreção é o componente mais crítico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87752"/>
            <a:ext cx="59436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633472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Arquitetura &gt; tamanho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99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Nemotron 4B (80%) supera Qwen 9B (50%) — treinamento importa mais que número de parâmetros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75304"/>
            <a:ext cx="59436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621024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02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Gap quase fechado com modelo certo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Qwen3-VL 78,8% vs Claude 82,7% (gap de 3,9pp) — modelos locais de próxima geração viabilizam privacidade + precisão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62856"/>
            <a:ext cx="59436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608576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0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Erros irredutíveis existem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74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9/52 perguntas (17%) falham mesmo com o melhor modelo — limitações intrínsecas dos 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50408"/>
            <a:ext cx="59436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596128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Domínio biomédico ajuda, mas instruction-following é obrigatório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61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Llama3-Med42 (67%) supera Gemma 4B (46%); BioGPT/BioMedLM GPT-2 style = 0%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5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AAC4FF"/>
                </a:solidFill>
                <a:latin typeface="Calibri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Cassiano Ricardo Neubauer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C4FF"/>
                </a:solidFill>
                <a:latin typeface="Calibri"/>
              </a:rPr>
              <a:t>cass78@gmail.com  |  PPG Computação Aplicada — UNISINOS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  <a:latin typeface="Calibri"/>
              </a:rPr>
              <a:t>Código e dados: output/eval_*.json  |  output/ablation_*.json  |  output/relatorio/biosparql-nl.pdf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