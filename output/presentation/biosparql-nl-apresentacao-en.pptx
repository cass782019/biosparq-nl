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5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BioSPARQL-NL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AC4FF"/>
                </a:solidFill>
                <a:latin typeface="Calibri"/>
              </a:rPr>
              <a:t>How to query biomedical disease databases
using natural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Cassiano Ricardo Neubauer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4FF"/>
                </a:solidFill>
                <a:latin typeface="Calibri"/>
              </a:rPr>
              <a:t>Advisor: Prof. Sandro J. Rigo  |  Graduate Program in Applied Computing — UNISINOS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Biomedical Research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33333"/>
                </a:solidFill>
                <a:latin typeface="Calibri"/>
              </a:rPr>
              <a:t>Imagine you are a physician and want to know: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10058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  <a:latin typeface="Calibri"/>
              </a:rPr>
              <a:t>"Which diseases cause memory loss and affect children?"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The data exists — but is stored in structured databases that require
technical language to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Disease Ontology (DOID): database with 12,000+ catalogued diseases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Human Phenotype Ontology (HPO): 16,000+ symptoms and phenotypes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HPOA: 320,000+ disease-phenotype associations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Are These Databases?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Think of a highly structured medical encyclopedia: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749039" cy="2743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DOID
(Diseases)
12,000+ diseases
organized by family
(e.g., diabetes → metabolic disease)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94560"/>
            <a:ext cx="3749039" cy="2743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HPO
(Symptoms)
16,000+ phenotypes
(e.g., memory loss,
seizures, jaundice)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3749039" cy="2743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HPOA
(Associations)
Which diseases cause
which symptoms —
320,000+ 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62828"/>
                </a:solidFill>
                <a:latin typeface="Calibri"/>
              </a:rPr>
              <a:t>Problem: querying this data requires learning a technical language — SPARQL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Technical Barrier: SPARQL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To query these databases, a specialist would need to write: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1097280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5D6A7"/>
                </a:solidFill>
                <a:latin typeface="Calibri"/>
              </a:rPr>
              <a:t>SELECT ?doenca ?label WHERE {
  GRAPH &lt;urn:hpoa&gt; { ?a hpoa:has_phenotype obo:HP_0002354 }
  GRAPH &lt;urn:doid&gt; { ?d rdfs:label ?label }
  BIND(REPLACE(?xref,"MIM:","OMIM:") AS ?omim)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vs. what the user wants to type: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371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D32"/>
                </a:solidFill>
                <a:latin typeface="Calibri"/>
              </a:rPr>
              <a:t>"Which diseases cause memory loss?"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Calibri"/>
              </a:rPr>
              <a:t>BioSPARQL-NL makes this translation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Our Proposal: BioSPARQL-NL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
in natural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256032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Pipeline
BioSPARQL-NL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Valid
SPARQL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2560320" cy="1280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Database
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Runs locally on your computer — your data never leaves your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Does not require the user to know SPARQL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Automatically validates whether the generated query is correct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Corrects errors and retries if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It Works: Pipeline Architecture</a:t>
            </a:r>
          </a:p>
        </p:txBody>
      </p:sp>
      <p:pic>
        <p:nvPicPr>
          <p:cNvPr id="5" name="Picture 4" descr="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943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645920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① Extracts entities from the question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042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② Retrieves similar examples (few-shot)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62656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③ Builds prompt with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621024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④ LLM generates the SPARQL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7939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⑤ Validates against the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37759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⑥ Executes in the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Step 1: Understanding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The system uses Artificial Intelligence (scispaCy) to identify
biomedical entities in the 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F3864"/>
                </a:solidFill>
                <a:latin typeface="Calibri"/>
              </a:rPr>
              <a:t>"Which phenotypes are associated with Marfan syndrome?"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03320"/>
            <a:ext cx="94183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776472"/>
            <a:ext cx="9144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2E7D32"/>
                </a:solidFill>
                <a:latin typeface="Calibri"/>
              </a:rPr>
              <a:t>Recognized: "Marfan syndrome"
→ URI: obo:DOID_0060618  (in the disease database)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This prevents the AI from needing to guess how the disease is registered in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Step 2: Learning from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The system maintains a library of 52 questions + already validated queries.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When a new question arrives, it retrieves the 3 most similar ones: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70632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"Symptoms of Alzheimer's?"  [92% similar]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47288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"Phenotypes of Huntington's disease?"  [87% similar]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97096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70248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"Clinical manifestations of multiple sclerosis?"  [81% similar]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These examples are included in the AI prompt — it learns the pattern
before generating the new query. This reduces hallucinations.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Step 3: The AI Generates the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The prompt sent to the AI contains: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Instructions about the database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Schema: which properties and classes 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Examples of similar questions already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The user's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33333"/>
                </a:solidFill>
                <a:latin typeface="Calibri"/>
              </a:rPr>
              <a:t>Tested models (run locally on your PC):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54880"/>
            <a:ext cx="2651760" cy="14630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Gemma 3
4B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754880"/>
            <a:ext cx="26517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Nemotron Nano
4B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754880"/>
            <a:ext cx="265176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Qwen 3.5
9B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754880"/>
            <a:ext cx="265176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Claude Sonnet*
commercial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* Claude Sonnet ran via API as a performance upper bound reference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Step 4: Validation and Auto-Correction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62828"/>
                </a:solidFill>
                <a:latin typeface="Calibri"/>
              </a:rPr>
              <a:t>Problem: LLMs sometimes hallucinate properties that do not exist in the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256032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267712"/>
            <a:ext cx="22860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AI-generated
SPARQL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94560"/>
            <a:ext cx="2560320" cy="10972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67712"/>
            <a:ext cx="22860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Schema
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21945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67712"/>
            <a:ext cx="192024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✓ Valid
→ 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62828"/>
                </a:solidFill>
                <a:latin typeface="Calibri"/>
              </a:rPr>
              <a:t>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337560"/>
            <a:ext cx="2194560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10712"/>
            <a:ext cx="192024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✗ Invalid
→ fix (up to 2x)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Validation uses introspection: the system automatically extracts from the database
which properties and classes exist — no manual configuration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55955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E7D32"/>
                </a:solidFill>
                <a:latin typeface="Calibri"/>
              </a:rPr>
              <a:t>Qwen 9B: from 0% → 50% accuracy with this mechanism alone (+50pp)!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Real Working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1161288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73352"/>
            <a:ext cx="11338559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F3864"/>
                </a:solidFill>
                <a:latin typeface="Calibri"/>
              </a:rPr>
              <a:t>Question: "What phenotypes are associated with Marfan syndrome?"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↓  SPARQL generated and executed: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11612880" cy="16459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816352"/>
            <a:ext cx="113385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D6A7"/>
                </a:solidFill>
                <a:latin typeface="Calibri"/>
              </a:rPr>
              <a:t>SELECT DISTINCT ?phenoLabel WHERE {
  GRAPH &lt;urn:hpoa&gt; { ?ann hpoa:source_id "OMIM:154700" ;
                         hpoa:has_phenotype ?pheno }
  GRAPH &lt;urn:hpo&gt; { ?pheno rdfs:label ?phenoLabel }
} LIMIT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480560"/>
            <a:ext cx="116128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553712"/>
            <a:ext cx="113385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D32"/>
                </a:solidFill>
                <a:latin typeface="Calibri"/>
              </a:rPr>
              <a:t>Results: Arachnodactyly, Ectopia lentis, Aortic root aneurysm,
Scoliosis, Tall stature, Pectus excavatum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406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The user asked in plain English — the system queried 3 databases and returned the phenotypes.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We Evaluated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We created a gold standard: 52 questions with expected answers verified by 2 annotators.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3703320" cy="2926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Easy
13 questions
1 graph, 1 entity
Ex: symptoms of diabetes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2286000"/>
            <a:ext cx="3703320" cy="2926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Medium
18 questions
2 graphs, multiple entities
Ex: diseases with 5+ symptoms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3703320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Hard
21 questions
3 graphs, complex joins,
specific MIM/OMIM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3949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Main metric: 'correctness' — did the query return the expected results?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4 AI Models 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92608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2821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91640"/>
            <a:ext cx="22860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2821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91640"/>
            <a:ext cx="30175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72821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Runs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691640"/>
            <a:ext cx="25603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72821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29260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240280"/>
            <a:ext cx="2286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2768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 billion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240280"/>
            <a:ext cx="30175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27685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Your PC (8GB GPU)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240280"/>
            <a:ext cx="25603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27685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2549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78892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8254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 billion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78892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82549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Your PC (8GB GPU)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78892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82549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Free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37560"/>
            <a:ext cx="29260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7413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337560"/>
            <a:ext cx="2286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 billion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337560"/>
            <a:ext cx="30175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37413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Your PC (CPU+GPU)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37413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Free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20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92277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Claude Sonnet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88620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92277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undisclosed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88620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92277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Cloud (API)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88620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392277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The first three run locally — no data leaves your computer.
Claude Sonnet serves as the performance ceiling reference (best possible).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87959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Finding: a 4B parameter model outperformed the 9B one — size isn't everything!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Results: 30 Primary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With validation enabled (best scenario for each model):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194560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2194560"/>
            <a:ext cx="6949440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212848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063239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3063239"/>
            <a:ext cx="434340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7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8152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931920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3931920"/>
            <a:ext cx="4082796" cy="6583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7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395020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A5F5"/>
                </a:solidFill>
                <a:latin typeface="Calibri"/>
              </a:rPr>
              <a:t>47%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65192"/>
            <a:ext cx="109728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Surprising finding:
Nemotron 4B (80%) &gt; Qwen 9B (50%)
Architecture matters more than size!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Does Validation Make a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Comparison: with and without the schema-based auto-correction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2004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3969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25603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3969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Without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3969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With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103120"/>
            <a:ext cx="20116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13969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79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3405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697479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73405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97479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697479"/>
            <a:ext cx="20116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73405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0.0pp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39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28415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2918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328415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86.7%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328415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291839"/>
            <a:ext cx="2011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328415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-6.7pp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2277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886200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92277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86200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92277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886200"/>
            <a:ext cx="20116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92277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+50.0pp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Qwen: validation is essential — from 0% to 50% accuracy (without it, useless!)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9379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Gemma: no difference — already generates queries that pass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24144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Nemotron: slight reduction — validates correctly but rejects some valid queries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Results by Difficulty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9260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2821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Easy (10q)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 (10q)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Hard (10q)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91640"/>
            <a:ext cx="18288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72821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29260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2257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32257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8036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91693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880360"/>
            <a:ext cx="1828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91693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9260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51129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3474720"/>
            <a:ext cx="18288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351129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Observations: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70916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Nemotron: uniform performance (80% across all levels) — most reliable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3951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Qwen: best on hard questions (70%) — good on complex queries with OPTIONAL/FILTER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69864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Gemma: fastest (4s/query) but less accurate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Local vs. Commercial: 52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We evaluated Claude Sonnet (commercial reference model) on the full gold standard,
alongside the best local model (Gemma 3 4B) for comparison: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32004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1401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16459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41401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Easy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2377440"/>
            <a:ext cx="146304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241401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Syntax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0837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 (local)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971800"/>
            <a:ext cx="16459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300837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971800"/>
            <a:ext cx="146304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300837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661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60273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Claude Sonnet (cloud)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56616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360273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82.7%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566160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360273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8404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33333"/>
                </a:solidFill>
                <a:latin typeface="Calibri"/>
              </a:rPr>
              <a:t>Claude: 43/52 correct  ·  Gemma: 24/52 correct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343400"/>
            <a:ext cx="850392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60" y="4416552"/>
            <a:ext cx="8229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Gap: 36.5 percentage points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212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Claude Sonnet has 100% valid syntax — never generates broken SPARQL.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Trade-off: Privacy vs. 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196169" cy="914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Gemma local  46.2%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9301368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Claude Sonnet  82.7%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Gemma local: data stays on your PC, full privacy — but 36pp less accurate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Claude Sonnet: maximum precision — but your data goes to the cloud (paid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For sensitive medical data, the local model may be the right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A PC with an 8GB GPU is sufficient to run Gemma 4B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Does Each Component Contribute?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Ablation study: we removed one component at a time and measured impact
(Gemma 3 4B, 30 questions)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34747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6829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331720"/>
            <a:ext cx="18288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23682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331720"/>
            <a:ext cx="18288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23682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331720"/>
            <a:ext cx="292608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36829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Δ vs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07208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8437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Full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807208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8437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807208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59" y="28437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807208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84378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---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8269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19272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Without 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28269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3192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28269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59" y="33192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63.3%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82696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31927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+13.3pp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58183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794759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Without few-shot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758183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59" y="37947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758183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59" y="37947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758183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794759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-3.3pp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33672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270248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Without schema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23367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59" y="4270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23367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59" y="4270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4233672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2702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-3.3pp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9160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4573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Without validation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4709160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59" y="474573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709160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59" y="474573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709160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474573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0.0pp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8464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22122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Zero-shot (none)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39" y="51846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4759" y="522122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51846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59" y="522122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66.7%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5184648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522122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+16.7pp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* NER (entity recognition) hurts Gemma — injects noise for this specific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Finding 1: Validation Is the Critical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The schema-based auto-correction loop is essential — see the impact without it: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40280"/>
            <a:ext cx="114300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Gemma 3 4B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474720" cy="10058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With validation
46.2%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71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697480"/>
            <a:ext cx="347472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706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Without validation
25.0%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697480"/>
            <a:ext cx="29260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70632"/>
            <a:ext cx="2651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−21.2pp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51960"/>
            <a:ext cx="114300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Claude Sonnet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347472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8231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With validation
82.7%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983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709160"/>
            <a:ext cx="347472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478231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Without validation
46.2%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709160"/>
            <a:ext cx="29260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782312"/>
            <a:ext cx="2651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−36.5pp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Finding 2: Architecture Matters More Than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Comparing models of different sizes: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19456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2194560"/>
            <a:ext cx="6803136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Nemotron Nano (4 billion)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17736" y="221284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15468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3154680"/>
            <a:ext cx="4251960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Qwen 3.5 (9 billion)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11480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4114800"/>
            <a:ext cx="3996842" cy="7132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7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Gemma 3 (4 billion)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1442" y="4133087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A5F5"/>
                </a:solidFill>
                <a:latin typeface="Calibri"/>
              </a:rP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Nemotron Nano has 4B parameters (FEWER than Qwen 9B) but achieves 80% vs 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33872"/>
            <a:ext cx="10972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Conclusion: model architecture and training are more determinant
than parameter count for generating correct biomedical SPARQL.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Explainable Interface (XAI)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Web interface developed in React +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User types the question in natural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Each pipeline step is shown in real time: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Recognized entities (NER)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Retrieved examples (few-shot)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Generated SPARQL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Validation result and 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Final database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Aligned with Explainable AI (XAI) principles: nothing is a 'black box'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Still Doesn't Work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926080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76479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Hardware as a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Models ≤4B run well on an 8GB GPU. Qwen 9B is 15× slower (63s per query). Models &gt;20B don't fit on common hardware.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337560"/>
            <a:ext cx="292608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41071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Idiosyncratic Conventions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47472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9 questions (17%) fail even with Claude Sonnet. They involve technical incompatibilities between databases (e.g., DOID uses 'MIM:' but HPOA uses 'OMIM:').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98348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983480"/>
            <a:ext cx="292608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05663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Stochastic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12064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Gemma 3 4B varied ±3 correct answers across identical runs (temperature=0.1). Results are not 100% deterministic.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Comparison: 7 Models (52 Questions)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07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070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2070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733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BioGPT 1.5B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733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 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733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673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GPT-2 style — no instruction-following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3317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BioMedLM 2.7B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 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31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31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GPT-2 style — no instruction-following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90087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Gemma 3 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90087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46.2%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900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990087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General model (baseline)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02736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4845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OpenBioLLM-8B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6484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57.7%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48456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61.5%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64845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Biomedical — weak instruction-following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61104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30682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Llama3-Med42-8B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30682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67.3%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30682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30682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Biomedical — strong instruction-following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19472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9651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Qwen3-VL-8B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9651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  <a:latin typeface="Calibri"/>
              </a:rPr>
              <a:t>78.8%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9651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98.1%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9651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General multimodal — best local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77840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6235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Claude Sonnet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623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62828"/>
                </a:solidFill>
                <a:latin typeface="Calibri"/>
              </a:rPr>
              <a:t>82.7%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6235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623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Commercial upper bound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Generalization: QALD-9+ (DBpedia)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Question: does the pipeline work in domains beyond biomedical?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We tested Gemma 3 4B on 30 questions from the public QALD-9+ benchmark (DBpedia) — without domain adaptation.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4747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Execution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SPARQL sent to DBpedia and accepted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97480"/>
            <a:ext cx="34747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65100"/>
                </a:solidFill>
                <a:latin typeface="Calibri"/>
              </a:rPr>
              <a:t>0.106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Avg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Few correct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697480"/>
            <a:ext cx="34747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62828"/>
                </a:solidFill>
                <a:latin typeface="Calibri"/>
              </a:rPr>
              <a:t>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Exact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Only 1/30 perfect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  <a:latin typeface="Calibri"/>
              </a:rPr>
              <a:t>Conclusion: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The pipeline generates valid SPARQL in other domains (80% execution), but needs domain-specific examples and schema
to succeed semantically. Syntactic transfer works; semantic transfer does not.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 Main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59436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Validation Is Essential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Gemma: 46% → 25% without it; Claude: 83% → 46% — the auto-correction loop is the most critical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87752"/>
            <a:ext cx="59436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633472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Architecture &gt;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99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Nemotron 4B (80%) beats Qwen 9B (50%) — training matters more than parameter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75304"/>
            <a:ext cx="59436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621024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02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Gap Nearly Closed with the Right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Qwen3-VL 78.8% vs Claude 82.7% (gap of 3.9pp) — next-gen local models enable privacy +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62856"/>
            <a:ext cx="59436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608576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0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Irreducible Errors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74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9/52 questions (17%) fail even with the best model — intrinsic data limitations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50408"/>
            <a:ext cx="59436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596128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Biomedical Domain Helps, But Instruction-Following Is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61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Llama3-Med42 (67%) beats Gemma 4B (46%); BioGPT/BioMedLM GPT-2 style = 0%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5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AAC4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Cassiano Ricardo Neubauer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C4FF"/>
                </a:solidFill>
                <a:latin typeface="Calibri"/>
              </a:rPr>
              <a:t>cass78@gmail.com  |  Graduate Program in Applied Computing — UNISINOS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  <a:latin typeface="Calibri"/>
              </a:rPr>
              <a:t>Code and data: output/eval_*.json  |  output/ablation_*.json  |  output/relatorio/biosparql-nl.pdf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