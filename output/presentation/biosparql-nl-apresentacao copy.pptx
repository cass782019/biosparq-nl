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89120"/>
            <a:ext cx="12188952" cy="2468880"/>
          </a:xfrm>
          <a:prstGeom prst="rect">
            <a:avLst/>
          </a:prstGeom>
          <a:solidFill>
            <a:srgbClr val="15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Calibri"/>
              </a:rPr>
              <a:t>BioSPARQL-NL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AAC4FF"/>
                </a:solidFill>
                <a:latin typeface="Calibri"/>
              </a:rPr>
              <a:t>Como fazer perguntas a bancos de dados de doenças
em linguagem natural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26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Cassiano Ricardo Neubauer Moralles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AC4FF"/>
                </a:solidFill>
                <a:latin typeface="Calibri"/>
              </a:rPr>
              <a:t>Orientador: Prof. Sandro J. Rigo  |  PPG Computação Aplicada — UNISINOS  |  Abril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O desafio da pesquisa biomédica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333333"/>
                </a:solidFill>
                <a:latin typeface="Calibri"/>
              </a:rPr>
              <a:t>Imagine que você é médico e quer saber: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148840"/>
            <a:ext cx="10332720" cy="77724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21992"/>
            <a:ext cx="1005840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F3864"/>
                </a:solidFill>
                <a:latin typeface="Calibri"/>
              </a:rPr>
              <a:t>"Quais doenças causam perda de memória e afetam crianças?"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632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333333"/>
                </a:solidFill>
                <a:latin typeface="Calibri"/>
              </a:rPr>
              <a:t>Os dados existem — mas estão em bancos estruturados que exigem
linguagem técnica para serem consultados.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862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333333"/>
                </a:solidFill>
                <a:latin typeface="Calibri"/>
              </a:rPr>
              <a:t>• Disease Ontology (DOID): banco com 12.000+ doenças catalogadas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4348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333333"/>
                </a:solidFill>
                <a:latin typeface="Calibri"/>
              </a:rPr>
              <a:t>• Human Phenotype Ontology (HPO): 16.000+ sintomas e fenótipos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9834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333333"/>
                </a:solidFill>
                <a:latin typeface="Calibri"/>
              </a:rPr>
              <a:t>• HPOA: 320.000+ associações doença-sintoma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O que são essas bases de dados?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333333"/>
                </a:solidFill>
                <a:latin typeface="Calibri"/>
              </a:rPr>
              <a:t>Pense numa enciclopédia médica ultra-estruturada: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194560"/>
            <a:ext cx="3749039" cy="27432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267712"/>
            <a:ext cx="3474720" cy="2596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DOID
(Doenças)
12.000+ doenças
organizadas por família
(ex: diabetes → doença metabólica)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2194560"/>
            <a:ext cx="3749039" cy="2743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2267712"/>
            <a:ext cx="3474720" cy="2596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HPO
(Sintomas)
16.000+ fenótipos
(ex: perda de memória,
convulsões, icterícia)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2194560"/>
            <a:ext cx="3749039" cy="27432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2267712"/>
            <a:ext cx="3474720" cy="2596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HPOA
(Associações)
Quais doenças causam
quais sintomas —
320.000+ conexões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1206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62828"/>
                </a:solidFill>
                <a:latin typeface="Calibri"/>
              </a:rPr>
              <a:t>Problema: consultar esses dados exige aprender uma linguagem técnica — SPARQL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A barreira técnica: SPARQL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333333"/>
                </a:solidFill>
                <a:latin typeface="Calibri"/>
              </a:rPr>
              <a:t>Para consultar essas bases, um especialista precisaria escrever: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182880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176272"/>
            <a:ext cx="10972800" cy="1682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A5D6A7"/>
                </a:solidFill>
                <a:latin typeface="Calibri"/>
              </a:rPr>
              <a:t>SELECT ?doenca ?label WHERE {
  GRAPH &lt;urn:hpoa&gt; { ?a hpoa:has_phenotype obo:HP_0002354 }
  GRAPH &lt;urn:doid&gt; { ?d rdfs:label ?label }
  BIND(REPLACE(?xref,"MIM:","OMIM:") AS ?omim)
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690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333333"/>
                </a:solidFill>
                <a:latin typeface="Calibri"/>
              </a:rPr>
              <a:t>vs. o que o usuário quer digitar: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480560"/>
            <a:ext cx="11247120" cy="6858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553712"/>
            <a:ext cx="10972800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E7D32"/>
                </a:solidFill>
                <a:latin typeface="Calibri"/>
              </a:rPr>
              <a:t>"Quais doenças causam perda de memória?"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3035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F3864"/>
                </a:solidFill>
                <a:latin typeface="Calibri"/>
              </a:rPr>
              <a:t>O BioSPARQL-NL faz essa tradução automaticamente.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Nossa proposta: BioSPARQL-NL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2560320" cy="128016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084832"/>
            <a:ext cx="2286000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Pergunta
em português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246888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F3864"/>
                </a:solidFill>
                <a:latin typeface="Calibri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2011680"/>
            <a:ext cx="2560320" cy="12801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2084832"/>
            <a:ext cx="2286000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Pipeline
BioSPARQL-NL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46888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F3864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2011680"/>
            <a:ext cx="2560320" cy="12801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084832"/>
            <a:ext cx="2286000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Consulta
SPARQL válida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246888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F3864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35440" y="2011680"/>
            <a:ext cx="2560320" cy="128016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72600" y="2084832"/>
            <a:ext cx="2286000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Resposta
do banco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4747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333333"/>
                </a:solidFill>
                <a:latin typeface="Calibri"/>
              </a:rPr>
              <a:t>• Roda localmente no seu computador — seus dados nunca saem da sua máquina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023359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333333"/>
                </a:solidFill>
                <a:latin typeface="Calibri"/>
              </a:rPr>
              <a:t>• Não exige que o usuário saiba SPARQL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5720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333333"/>
                </a:solidFill>
                <a:latin typeface="Calibri"/>
              </a:rPr>
              <a:t>• Valida automaticamente se a consulta gerada é correta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1206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333333"/>
                </a:solidFill>
                <a:latin typeface="Calibri"/>
              </a:rPr>
              <a:t>• Corrige erros e tenta novamente se necessário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Como funciona: arquitetura do pipeline</a:t>
            </a:r>
          </a:p>
        </p:txBody>
      </p:sp>
      <p:pic>
        <p:nvPicPr>
          <p:cNvPr id="5" name="Picture 4" descr="arquite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4480"/>
            <a:ext cx="5943600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92240" y="1645920"/>
            <a:ext cx="53035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  <a:latin typeface="Calibri"/>
              </a:rPr>
              <a:t>• ① Extrai entidades da pergunta (NER)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2304288"/>
            <a:ext cx="53035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  <a:latin typeface="Calibri"/>
              </a:rPr>
              <a:t>• ② Busca exemplos similares (few-shot)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962656"/>
            <a:ext cx="53035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  <a:latin typeface="Calibri"/>
              </a:rPr>
              <a:t>• ③ Monta prompt com contexto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3621024"/>
            <a:ext cx="53035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  <a:latin typeface="Calibri"/>
              </a:rPr>
              <a:t>• ④ LLM gera a consulta SPARQL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4279392"/>
            <a:ext cx="53035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  <a:latin typeface="Calibri"/>
              </a:rPr>
              <a:t>• ⑤ Valida contra o esquema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4937759"/>
            <a:ext cx="53035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  <a:latin typeface="Calibri"/>
              </a:rPr>
              <a:t>• ⑥ Executa no banco de dados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Etapa 1: Entendendo a pergunta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333333"/>
                </a:solidFill>
                <a:latin typeface="Calibri"/>
              </a:rPr>
              <a:t>O sistema usa Inteligência Artificial (scispaCy) para identificar
entidades biomédicas na pergunta: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377440"/>
            <a:ext cx="11247120" cy="6858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450592"/>
            <a:ext cx="10972800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0" i="0">
                <a:solidFill>
                  <a:srgbClr val="1F3864"/>
                </a:solidFill>
                <a:latin typeface="Calibri"/>
              </a:rPr>
              <a:t>"Quais fenótipos estão associados à síndrome de Marfan?"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31546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F3864"/>
                </a:solidFill>
                <a:latin typeface="Calibri"/>
              </a:rPr>
              <a:t>↓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3703320"/>
            <a:ext cx="9418320" cy="9144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3776472"/>
            <a:ext cx="91440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 i="0">
                <a:solidFill>
                  <a:srgbClr val="2E7D32"/>
                </a:solidFill>
                <a:latin typeface="Calibri"/>
              </a:rPr>
              <a:t>Reconhecido: "síndrome de Marfan"
→ URI: obo:DOID_0060618  (no banco de doenças)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800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333333"/>
                </a:solidFill>
                <a:latin typeface="Calibri"/>
              </a:rPr>
              <a:t>Isso evita que a IA precise adivinhar como a doença está cadastrada no sistema.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Etapa 2: Aprendendo com exemplos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333333"/>
                </a:solidFill>
                <a:latin typeface="Calibri"/>
              </a:rPr>
              <a:t>O sistema mantém uma biblioteca de 52 perguntas + consultas já validadas.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333333"/>
                </a:solidFill>
                <a:latin typeface="Calibri"/>
              </a:rPr>
              <a:t>Quando chega uma nova pergunta, busca as 3 mais parecidas: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97480"/>
            <a:ext cx="11247120" cy="64008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770632"/>
            <a:ext cx="10972800" cy="493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1F3864"/>
                </a:solidFill>
                <a:latin typeface="Calibri"/>
              </a:rPr>
              <a:t>"Sintomas do Alzheimer?"  [92% similar]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447288"/>
            <a:ext cx="11247120" cy="64008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520440"/>
            <a:ext cx="10972800" cy="493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1F3864"/>
                </a:solidFill>
                <a:latin typeface="Calibri"/>
              </a:rPr>
              <a:t>"Fenótipos da doença de Huntington?"  [87% similar]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197096"/>
            <a:ext cx="11247120" cy="64008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4270248"/>
            <a:ext cx="10972800" cy="493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1F3864"/>
                </a:solidFill>
                <a:latin typeface="Calibri"/>
              </a:rPr>
              <a:t>"Manifestações clínicas da esclerose múltipla?"  [81% similar]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074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  <a:latin typeface="Calibri"/>
              </a:rPr>
              <a:t>Esses exemplos são incluídos no prompt da IA — ela aprende o padrão
antes de gerar a nova consulta. Isso reduz alucinações.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Etapa 3: A IA gera a consulta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333333"/>
                </a:solidFill>
                <a:latin typeface="Calibri"/>
              </a:rPr>
              <a:t>O prompt enviado à IA contém: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4884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  <a:latin typeface="Calibri"/>
              </a:rPr>
              <a:t>• Instruções sobre a estrutura dos bancos de dados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  <a:latin typeface="Calibri"/>
              </a:rPr>
              <a:t>• Esquema: quais propriedades e classes existem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5468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  <a:latin typeface="Calibri"/>
              </a:rPr>
              <a:t>• Exemplos de perguntas similares já resolvidas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  <a:latin typeface="Calibri"/>
              </a:rPr>
              <a:t>• A pergunta do usuário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519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333333"/>
                </a:solidFill>
                <a:latin typeface="Calibri"/>
              </a:rPr>
              <a:t>Modelos testados (rodam localmente no seu PC):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4754880"/>
            <a:ext cx="2651760" cy="146304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4828032"/>
            <a:ext cx="2377440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Gemma 3
4B params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4754880"/>
            <a:ext cx="2651760" cy="14630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4828032"/>
            <a:ext cx="2377440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Nemotron Nano
4B params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4754880"/>
            <a:ext cx="2651760" cy="146304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4828032"/>
            <a:ext cx="2377440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Qwen 3.5
9B params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52560" y="4754880"/>
            <a:ext cx="2651760" cy="146304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9720" y="4828032"/>
            <a:ext cx="2377440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Claude Sonnet*
comercial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30936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333333"/>
                </a:solidFill>
                <a:latin typeface="Calibri"/>
              </a:rPr>
              <a:t>* Claude Sonnet rodou via API como referência de teto de desempenho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Etapa 4: Validação e autocorreção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C62828"/>
                </a:solidFill>
                <a:latin typeface="Calibri"/>
              </a:rPr>
              <a:t>Problema: LLMs às vezes inventam propriedades que não existem no banco.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194560"/>
            <a:ext cx="2560320" cy="10972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2267712"/>
            <a:ext cx="228600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SPARQL gerado
pela 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24688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333333"/>
                </a:solidFill>
                <a:latin typeface="Calibri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2194560"/>
            <a:ext cx="2560320" cy="1097280"/>
          </a:xfrm>
          <a:prstGeom prst="rect">
            <a:avLst/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2267712"/>
            <a:ext cx="228600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Validação
por esquema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4688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E7D32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2194560"/>
            <a:ext cx="2194560" cy="10972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2267712"/>
            <a:ext cx="192024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✓ Válida
→ executa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33832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62828"/>
                </a:solidFill>
                <a:latin typeface="Calibri"/>
              </a:rPr>
              <a:t>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3337560"/>
            <a:ext cx="2194560" cy="109728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3410712"/>
            <a:ext cx="192024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✗ Inválida
→ corrige (até 2x)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663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  <a:latin typeface="Calibri"/>
              </a:rPr>
              <a:t>A validação usa introspecção: o sistema extrai automaticamente do próprio banco
quais propriedades e classes existem — sem precisar de configuração manual.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486400"/>
            <a:ext cx="11247120" cy="6858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5559552"/>
            <a:ext cx="10972800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2E7D32"/>
                </a:solidFill>
                <a:latin typeface="Calibri"/>
              </a:rPr>
              <a:t>Qwen 9B: de 0% → 50% de acerto só com esse mecanismo (+50pp)!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Exemplo real de funcionamento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600200"/>
            <a:ext cx="11612880" cy="6400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1673352"/>
            <a:ext cx="11338559" cy="493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 i="0">
                <a:solidFill>
                  <a:srgbClr val="1F3864"/>
                </a:solidFill>
                <a:latin typeface="Calibri"/>
              </a:rPr>
              <a:t>Pergunta: "What phenotypes are associated with Marfan syndrome?"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317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alibri"/>
              </a:rPr>
              <a:t>↓  SPARQL gerado e executado: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743200"/>
            <a:ext cx="11612880" cy="164592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2816352"/>
            <a:ext cx="11338559" cy="1499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A5D6A7"/>
                </a:solidFill>
                <a:latin typeface="Calibri"/>
              </a:rPr>
              <a:t>SELECT DISTINCT ?phenoLabel WHERE {
  GRAPH &lt;urn:hpoa&gt; { ?ann hpoa:source_id "OMIM:154700" ;
                         hpoa:has_phenotype ?pheno }
  GRAPH &lt;urn:hpo&gt; { ?pheno rdfs:label ?phenoLabel }
} LIMIT 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4480560"/>
            <a:ext cx="11612880" cy="8229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4553712"/>
            <a:ext cx="11338559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E7D32"/>
                </a:solidFill>
                <a:latin typeface="Calibri"/>
              </a:rPr>
              <a:t>Resultados: Arachnodactyly, Ectopia lentis, Aortic root aneurysm,
Scoliosis, Tall stature, Pectus excavatum ...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544068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333333"/>
                </a:solidFill>
                <a:latin typeface="Calibri"/>
              </a:rPr>
              <a:t>O usuário perguntou em inglês simples — o sistema consultou 3 bancos de dados e retornou os fenótipos.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Como avaliamos o sistema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333333"/>
                </a:solidFill>
                <a:latin typeface="Calibri"/>
              </a:rPr>
              <a:t>Criamos um gold standard: 52 perguntas com respostas esperadas verificadas por 2 anotadores.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286000"/>
            <a:ext cx="3703320" cy="292608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2359152"/>
            <a:ext cx="3429000" cy="2779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Fácil
13 perguntas
1 grafo, 1 entidade
Ex: sintomas de diabetes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1959" y="2286000"/>
            <a:ext cx="3703320" cy="292608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2359152"/>
            <a:ext cx="3429000" cy="2779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Médio
18 perguntas
2 grafos, múltiplas entidades
Ex: doenças com 5+ sintomas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2286000"/>
            <a:ext cx="3703320" cy="292608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2359152"/>
            <a:ext cx="3429000" cy="2779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Difícil
21 perguntas
3 grafos, joins complexos,
filtros MIM/OMIM específicos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539496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F3864"/>
                </a:solidFill>
                <a:latin typeface="Calibri"/>
              </a:rPr>
              <a:t>Métrica principal: 'correção' — a consulta retornou os resultados esperados?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Os 4 modelos de IA testados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91640"/>
            <a:ext cx="2926080" cy="5486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728216"/>
            <a:ext cx="2834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Modelo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0" y="1691640"/>
            <a:ext cx="2286000" cy="5486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29000" y="1728216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Parâmetros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0" y="1691640"/>
            <a:ext cx="3017520" cy="5486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15000" y="1728216"/>
            <a:ext cx="29260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Onde roda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0" y="1691640"/>
            <a:ext cx="2560320" cy="5486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32520" y="1728216"/>
            <a:ext cx="24688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Custo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240280"/>
            <a:ext cx="2926080" cy="54864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276856"/>
            <a:ext cx="2834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Gemma 3 4B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0" y="2240280"/>
            <a:ext cx="2286000" cy="54864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2276856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4 bilhões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0" y="2240280"/>
            <a:ext cx="3017520" cy="54864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15000" y="2276856"/>
            <a:ext cx="29260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Seu PC (GPU 8GB)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0" y="2240280"/>
            <a:ext cx="2560320" cy="54864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32520" y="2276856"/>
            <a:ext cx="24688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Gratuito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788920"/>
            <a:ext cx="29260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825496"/>
            <a:ext cx="2834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Nemotron Nano 4B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83280" y="2788920"/>
            <a:ext cx="22860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29000" y="2825496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4 bilhões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0" y="2788920"/>
            <a:ext cx="30175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15000" y="2825496"/>
            <a:ext cx="29260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Seu PC (GPU 8GB)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0" y="2788920"/>
            <a:ext cx="25603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32520" y="2825496"/>
            <a:ext cx="24688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Gratuito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337560"/>
            <a:ext cx="2926080" cy="54864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3374136"/>
            <a:ext cx="2834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Qwen 3.5 9B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83280" y="3337560"/>
            <a:ext cx="2286000" cy="54864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29000" y="3374136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9 bilhões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0" y="3337560"/>
            <a:ext cx="3017520" cy="54864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15000" y="3374136"/>
            <a:ext cx="29260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Seu PC (CPU+GPU)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686800" y="3337560"/>
            <a:ext cx="2560320" cy="54864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32520" y="3374136"/>
            <a:ext cx="24688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Gratuito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886200"/>
            <a:ext cx="29260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3922776"/>
            <a:ext cx="2834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Claude Sonnet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383280" y="3886200"/>
            <a:ext cx="22860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29000" y="3922776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não divulgado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0" y="3886200"/>
            <a:ext cx="30175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15000" y="3922776"/>
            <a:ext cx="29260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Nuvem (API)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686800" y="3886200"/>
            <a:ext cx="25603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32520" y="3922776"/>
            <a:ext cx="24688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Pago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9834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  <a:latin typeface="Calibri"/>
              </a:rPr>
              <a:t>Os três primeiros rodam localmente — nenhum dado sai do seu computador.
Claude Sonnet serve como referência de teto (o melhor possível).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5806440"/>
            <a:ext cx="11247120" cy="6858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94360" y="5879592"/>
            <a:ext cx="10972800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E7D32"/>
                </a:solidFill>
                <a:latin typeface="Calibri"/>
              </a:rPr>
              <a:t>Descoberta: um modelo de 4B parâmetros superou o de 9B — tamanho não é tudo!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Resultados: 30 questões primárias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333333"/>
                </a:solidFill>
                <a:latin typeface="Calibri"/>
              </a:rPr>
              <a:t>Com validação ativada (melhor cenário para cada modelo):</a:t>
            </a:r>
          </a:p>
        </p:txBody>
      </p:sp>
      <p:sp>
        <p:nvSpPr>
          <p:cNvPr id="6" name="Rectangle 5"/>
          <p:cNvSpPr/>
          <p:nvPr/>
        </p:nvSpPr>
        <p:spPr>
          <a:xfrm>
            <a:off x="2468880" y="2194560"/>
            <a:ext cx="8686800" cy="65836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468880" y="2194560"/>
            <a:ext cx="6949440" cy="65836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12848"/>
            <a:ext cx="1920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  <a:latin typeface="Calibri"/>
              </a:rPr>
              <a:t>Nemotron Nano 4B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64040" y="2212848"/>
            <a:ext cx="731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E7D32"/>
                </a:solidFill>
                <a:latin typeface="Calibri"/>
              </a:rPr>
              <a:t>80%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8880" y="3063239"/>
            <a:ext cx="8686800" cy="65836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68880" y="3063239"/>
            <a:ext cx="4343400" cy="65836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081527"/>
            <a:ext cx="1920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  <a:latin typeface="Calibri"/>
              </a:rPr>
              <a:t>Qwen 3.5 9B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81527"/>
            <a:ext cx="731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65100"/>
                </a:solidFill>
                <a:latin typeface="Calibri"/>
              </a:rPr>
              <a:t>50%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80" y="3931920"/>
            <a:ext cx="8686800" cy="65836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68880" y="3931920"/>
            <a:ext cx="4082796" cy="658368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950207"/>
            <a:ext cx="1920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  <a:latin typeface="Calibri"/>
              </a:rPr>
              <a:t>Gemma 3 4B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97396" y="3950207"/>
            <a:ext cx="731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42A5F5"/>
                </a:solidFill>
                <a:latin typeface="Calibri"/>
              </a:rPr>
              <a:t>47%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892040"/>
            <a:ext cx="11247120" cy="13716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965192"/>
            <a:ext cx="10972800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Conclusão surpreendente:
Nemotron 4B (80%) &gt; Qwen 9B (50%)
Arquitetura importa mais que tamanho!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A validação faz diferença?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333333"/>
                </a:solidFill>
                <a:latin typeface="Calibri"/>
              </a:rPr>
              <a:t>Comparação: com e sem o mecanismo de autocorreção por esquema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3200400" cy="5943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39696"/>
            <a:ext cx="31089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Modelo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2103120"/>
            <a:ext cx="2560320" cy="5943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2139696"/>
            <a:ext cx="246887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Sem validação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103120"/>
            <a:ext cx="2560320" cy="5943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2139696"/>
            <a:ext cx="246887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Com validação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78240" y="2103120"/>
            <a:ext cx="2011680" cy="5943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23960" y="2139696"/>
            <a:ext cx="192024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Ganho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97479"/>
            <a:ext cx="3200400" cy="59436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734056"/>
            <a:ext cx="31089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Gemma 3 4B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0" y="2697479"/>
            <a:ext cx="2560320" cy="59436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03320" y="2734056"/>
            <a:ext cx="246887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46,7%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697479"/>
            <a:ext cx="2560320" cy="59436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2734056"/>
            <a:ext cx="246887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46,7%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78240" y="2697479"/>
            <a:ext cx="2011680" cy="59436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23960" y="2734056"/>
            <a:ext cx="192024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0,0pp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291839"/>
            <a:ext cx="32004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328415"/>
            <a:ext cx="31089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Nemotron Nano 4B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3291839"/>
            <a:ext cx="25603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03320" y="3328415"/>
            <a:ext cx="246887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86,7%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291839"/>
            <a:ext cx="25603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3328415"/>
            <a:ext cx="246887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80,0%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78240" y="3291839"/>
            <a:ext cx="20116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23960" y="3328415"/>
            <a:ext cx="192024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62828"/>
                </a:solidFill>
                <a:latin typeface="Calibri"/>
              </a:rPr>
              <a:t>-6,7pp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886200"/>
            <a:ext cx="3200400" cy="59436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3922776"/>
            <a:ext cx="31089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Qwen 3.5 9B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0" y="3886200"/>
            <a:ext cx="2560320" cy="59436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03320" y="3922776"/>
            <a:ext cx="246887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 0,0%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3886200"/>
            <a:ext cx="2560320" cy="59436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63640" y="3922776"/>
            <a:ext cx="246887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50,0%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778240" y="3886200"/>
            <a:ext cx="2011680" cy="59436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23960" y="3922776"/>
            <a:ext cx="192024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E7D32"/>
                </a:solidFill>
                <a:latin typeface="Calibri"/>
              </a:rPr>
              <a:t>+50,0pp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4663440"/>
            <a:ext cx="112471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  <a:latin typeface="Calibri"/>
              </a:rPr>
              <a:t>• Qwen: validação essencial — de 0% a 50% de acerto (sem ela, inútil!)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193792"/>
            <a:ext cx="112471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  <a:latin typeface="Calibri"/>
              </a:rPr>
              <a:t>• Gemma: sem diferença — já gera consultas que passam na validação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724144"/>
            <a:ext cx="112471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  <a:latin typeface="Calibri"/>
              </a:rPr>
              <a:t>• Nemotron: leve redução — valida corretamente mas rejeita alguns queries válidos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Resultado por nível de dificuldade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91640"/>
            <a:ext cx="2926080" cy="5943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728216"/>
            <a:ext cx="283464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Modelo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1691640"/>
            <a:ext cx="2103120" cy="5943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37560" y="1728216"/>
            <a:ext cx="201167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Fácil (10q)</a:t>
            </a:r>
          </a:p>
        </p:txBody>
      </p:sp>
      <p:sp>
        <p:nvSpPr>
          <p:cNvPr id="9" name="Rectangle 8"/>
          <p:cNvSpPr/>
          <p:nvPr/>
        </p:nvSpPr>
        <p:spPr>
          <a:xfrm>
            <a:off x="5394960" y="1691640"/>
            <a:ext cx="2103120" cy="5943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40680" y="1728216"/>
            <a:ext cx="201167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Médio (10q)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79" y="1691640"/>
            <a:ext cx="2103120" cy="5943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43800" y="1728216"/>
            <a:ext cx="201167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Difícil (10q)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0" y="1691640"/>
            <a:ext cx="1828800" cy="5943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46920" y="1728216"/>
            <a:ext cx="17373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Geral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286000"/>
            <a:ext cx="2926080" cy="59436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2322576"/>
            <a:ext cx="283464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Gemma 3 4B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0" y="2286000"/>
            <a:ext cx="2103120" cy="59436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37560" y="2322576"/>
            <a:ext cx="201167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60%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94960" y="2286000"/>
            <a:ext cx="2103120" cy="59436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40680" y="2322576"/>
            <a:ext cx="201167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40%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79" y="2286000"/>
            <a:ext cx="2103120" cy="59436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43800" y="2322576"/>
            <a:ext cx="201167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40%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01200" y="2286000"/>
            <a:ext cx="1828800" cy="59436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46920" y="2322576"/>
            <a:ext cx="17373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47%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880360"/>
            <a:ext cx="29260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2916936"/>
            <a:ext cx="283464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Nemotron Nano 4B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91840" y="2880360"/>
            <a:ext cx="21031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37560" y="2916936"/>
            <a:ext cx="201167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80%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94960" y="2880360"/>
            <a:ext cx="21031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40680" y="2916936"/>
            <a:ext cx="201167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80%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98079" y="2880360"/>
            <a:ext cx="21031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43800" y="2916936"/>
            <a:ext cx="201167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80%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01200" y="2880360"/>
            <a:ext cx="18288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46920" y="2916936"/>
            <a:ext cx="17373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80%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3474720"/>
            <a:ext cx="2926080" cy="59436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3511296"/>
            <a:ext cx="283464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Qwen 3.5 9B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91840" y="3474720"/>
            <a:ext cx="2103120" cy="59436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37560" y="3511296"/>
            <a:ext cx="201167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50%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394960" y="3474720"/>
            <a:ext cx="2103120" cy="59436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40680" y="3511296"/>
            <a:ext cx="201167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30%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98079" y="3474720"/>
            <a:ext cx="2103120" cy="59436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543800" y="3511296"/>
            <a:ext cx="201167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70%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01200" y="3474720"/>
            <a:ext cx="1828800" cy="59436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46920" y="3511296"/>
            <a:ext cx="17373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50%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2519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3864"/>
                </a:solidFill>
                <a:latin typeface="Calibri"/>
              </a:rPr>
              <a:t>Observações: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4709160"/>
            <a:ext cx="112471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alibri"/>
              </a:rPr>
              <a:t>• Nemotron: desempenho uniforme (80% em todos os níveis) — mais confiável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5239512"/>
            <a:ext cx="112471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alibri"/>
              </a:rPr>
              <a:t>• Qwen: melhor em difícil (70%) — bom em queries complexas com OPTIONAL/FILTER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5769864"/>
            <a:ext cx="112471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alibri"/>
              </a:rPr>
              <a:t>• Gemma: mais rápido (4s/query) mas menos preciso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Local vs. Comercial: 52 questões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  <a:latin typeface="Calibri"/>
              </a:rPr>
              <a:t>Avaliamos o Claude Sonnet (modelo comercial de referência) no gold standard completo,
junto com o melhor modelo local (Gemma 3 4B) para comparação: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377440"/>
            <a:ext cx="3200400" cy="5943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2414016"/>
            <a:ext cx="31089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Modelo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2377440"/>
            <a:ext cx="1645920" cy="5943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39" y="2414016"/>
            <a:ext cx="155448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Geral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0" y="2377440"/>
            <a:ext cx="1554480" cy="5943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66359" y="2414016"/>
            <a:ext cx="146303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Fácil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0" y="2377440"/>
            <a:ext cx="1554480" cy="5943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2414016"/>
            <a:ext cx="146303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Médio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2377440"/>
            <a:ext cx="1554480" cy="5943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2414016"/>
            <a:ext cx="146303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Difícil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784080" y="2377440"/>
            <a:ext cx="1463040" cy="5943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29800" y="2414016"/>
            <a:ext cx="137160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Sintaxe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971800"/>
            <a:ext cx="3200400" cy="59436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3008376"/>
            <a:ext cx="31089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Gemma 3 4B (local)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0" y="2971800"/>
            <a:ext cx="1645920" cy="59436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20439" y="3008376"/>
            <a:ext cx="155448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46,2%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20640" y="2971800"/>
            <a:ext cx="1554480" cy="59436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66359" y="3008376"/>
            <a:ext cx="146303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39%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75120" y="2971800"/>
            <a:ext cx="1554480" cy="59436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20840" y="3008376"/>
            <a:ext cx="146303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56%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2971800"/>
            <a:ext cx="1554480" cy="59436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5320" y="3008376"/>
            <a:ext cx="146303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43%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784080" y="2971800"/>
            <a:ext cx="1463040" cy="59436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29800" y="3008376"/>
            <a:ext cx="137160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75%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566160"/>
            <a:ext cx="32004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3602736"/>
            <a:ext cx="31089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Claude Sonnet (nuvem)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74720" y="3566160"/>
            <a:ext cx="16459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20439" y="3602736"/>
            <a:ext cx="155448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82,7%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120640" y="3566160"/>
            <a:ext cx="15544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66359" y="3602736"/>
            <a:ext cx="146303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100%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75120" y="3566160"/>
            <a:ext cx="15544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20840" y="3602736"/>
            <a:ext cx="146303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89%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0" y="3566160"/>
            <a:ext cx="15544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75320" y="3602736"/>
            <a:ext cx="146303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67%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784080" y="3566160"/>
            <a:ext cx="14630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829800" y="3602736"/>
            <a:ext cx="137160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100%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" y="384048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333333"/>
                </a:solidFill>
                <a:latin typeface="Calibri"/>
              </a:rPr>
              <a:t>Claude: 43/52 corretas  ·  Gemma: 24/52 corretas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828800" y="4343400"/>
            <a:ext cx="8503920" cy="7315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965960" y="4416552"/>
            <a:ext cx="82296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Gap: 36,5 pontos percentuais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" y="521208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333333"/>
                </a:solidFill>
                <a:latin typeface="Calibri"/>
              </a:rPr>
              <a:t>O Claude Sonnet tem 100% de sintaxe válida — nunca gera SPARQL quebrado.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O trade-off: privacidade vs precisão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11247120" cy="9144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5196169" cy="91440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Gemma local  46,2%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834640"/>
            <a:ext cx="11247120" cy="9144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834640"/>
            <a:ext cx="9301368" cy="914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Claude Sonnet  82,7%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931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  <a:latin typeface="Calibri"/>
              </a:rPr>
              <a:t>• Gemma local: dados ficam no seu PC, privacidade total — mas 36pp a menos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480559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  <a:latin typeface="Calibri"/>
              </a:rPr>
              <a:t>• Claude Sonnet: máxima precisão — mas seus dados vão para a nuvem (API paga)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0292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  <a:latin typeface="Calibri"/>
              </a:rPr>
              <a:t>• Para dados médicos sensíveis, o modelo local pode ser a escolha certa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5778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  <a:latin typeface="Calibri"/>
              </a:rPr>
              <a:t>• Um PC com GPU de 8GB já é suficiente para rodar o Gemma 4B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O que cada componente contribui?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  <a:latin typeface="Calibri"/>
              </a:rPr>
              <a:t>Estudo de ablação: removemos um componente por vez e medimos o impacto
(Gemma 3 4B, 30 questões)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331720"/>
            <a:ext cx="3474720" cy="47548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2368296"/>
            <a:ext cx="33832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Configuração</a:t>
            </a:r>
          </a:p>
        </p:txBody>
      </p:sp>
      <p:sp>
        <p:nvSpPr>
          <p:cNvPr id="8" name="Rectangle 7"/>
          <p:cNvSpPr/>
          <p:nvPr/>
        </p:nvSpPr>
        <p:spPr>
          <a:xfrm>
            <a:off x="3749039" y="2331720"/>
            <a:ext cx="1828800" cy="47548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4759" y="2368296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Sintaxe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77840" y="2331720"/>
            <a:ext cx="1828800" cy="47548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23559" y="2368296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Correção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2331720"/>
            <a:ext cx="2926080" cy="47548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52360" y="2368296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Δ vs completo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807208"/>
            <a:ext cx="3474720" cy="475488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2843784"/>
            <a:ext cx="33832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Pipeline completo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49039" y="2807208"/>
            <a:ext cx="1828800" cy="475488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94759" y="2843784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90%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77840" y="2807208"/>
            <a:ext cx="1828800" cy="475488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23559" y="2843784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50,0%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06640" y="2807208"/>
            <a:ext cx="2926080" cy="475488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52360" y="2843784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62828"/>
                </a:solidFill>
                <a:latin typeface="Calibri"/>
              </a:rPr>
              <a:t>---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282696"/>
            <a:ext cx="34747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3319272"/>
            <a:ext cx="33832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Sem NER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49039" y="3282696"/>
            <a:ext cx="18288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94759" y="3319272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90%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77840" y="3282696"/>
            <a:ext cx="18288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23559" y="3319272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63,3%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06640" y="3282696"/>
            <a:ext cx="29260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52360" y="3319272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E7D32"/>
                </a:solidFill>
                <a:latin typeface="Calibri"/>
              </a:rPr>
              <a:t>+13,3pp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758183"/>
            <a:ext cx="3474720" cy="475488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3794759"/>
            <a:ext cx="33832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Sem few-shot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749039" y="3758183"/>
            <a:ext cx="1828800" cy="475488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94759" y="3794759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90%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577840" y="3758183"/>
            <a:ext cx="1828800" cy="475488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23559" y="3794759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46,7%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06640" y="3758183"/>
            <a:ext cx="2926080" cy="475488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52360" y="3794759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62828"/>
                </a:solidFill>
                <a:latin typeface="Calibri"/>
              </a:rPr>
              <a:t>-3,3pp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4233672"/>
            <a:ext cx="34747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0040" y="4270248"/>
            <a:ext cx="33832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Sem esquema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749039" y="4233672"/>
            <a:ext cx="18288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94759" y="4270248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77%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77840" y="4233672"/>
            <a:ext cx="18288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23559" y="4270248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46,7%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06640" y="4233672"/>
            <a:ext cx="29260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52360" y="4270248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62828"/>
                </a:solidFill>
                <a:latin typeface="Calibri"/>
              </a:rPr>
              <a:t>-3,3pp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4709160"/>
            <a:ext cx="3474720" cy="475488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0040" y="4745736"/>
            <a:ext cx="33832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Sem validação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749039" y="4709160"/>
            <a:ext cx="1828800" cy="475488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794759" y="4745736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67%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577840" y="4709160"/>
            <a:ext cx="1828800" cy="475488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623559" y="4745736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50,0%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406640" y="4709160"/>
            <a:ext cx="2926080" cy="475488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52360" y="4745736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0,0pp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5184648"/>
            <a:ext cx="34747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0040" y="5221224"/>
            <a:ext cx="33832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Zero-shot (nada)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749039" y="5184648"/>
            <a:ext cx="18288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794759" y="5221224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87%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577840" y="5184648"/>
            <a:ext cx="18288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623559" y="5221224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66,7%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406640" y="5184648"/>
            <a:ext cx="29260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452360" y="5221224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E7D32"/>
                </a:solidFill>
                <a:latin typeface="Calibri"/>
              </a:rPr>
              <a:t>+16,7pp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74320" y="603504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333333"/>
                </a:solidFill>
                <a:latin typeface="Calibri"/>
              </a:rPr>
              <a:t>* NER (reconhecimento de entidades) piora o Gemma — injeta ruído para este modelo específico.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Achado 1: Validação é o componente crítico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333333"/>
                </a:solidFill>
                <a:latin typeface="Calibri"/>
              </a:rPr>
              <a:t>O loop de autocorreção por esquema é essencial — veja o impacto sem ele: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240280"/>
            <a:ext cx="11430000" cy="1645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3864"/>
                </a:solidFill>
                <a:latin typeface="Calibri"/>
              </a:rPr>
              <a:t>Gemma 3 4B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97480"/>
            <a:ext cx="3474720" cy="100584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770632"/>
            <a:ext cx="320040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Com validação
46,2%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29718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C62828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0" y="2697480"/>
            <a:ext cx="3474720" cy="100584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92040" y="2770632"/>
            <a:ext cx="320040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Sem validação
25,0%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0" y="2697480"/>
            <a:ext cx="2926080" cy="100584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9640" y="2770632"/>
            <a:ext cx="265176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−21,2pp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251960"/>
            <a:ext cx="11430000" cy="1645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2976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3864"/>
                </a:solidFill>
                <a:latin typeface="Calibri"/>
              </a:rPr>
              <a:t>Claude Sonnet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709160"/>
            <a:ext cx="3474720" cy="10058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782312"/>
            <a:ext cx="320040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Com validação
82,7%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49834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C62828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0" y="4709160"/>
            <a:ext cx="3474720" cy="100584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92040" y="4782312"/>
            <a:ext cx="320040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Sem validação
46,2%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12480" y="4709160"/>
            <a:ext cx="2926080" cy="100584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49640" y="4782312"/>
            <a:ext cx="265176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−36,5pp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Achado 2: Arquitetura importa mais que tamanho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333333"/>
                </a:solidFill>
                <a:latin typeface="Calibri"/>
              </a:rPr>
              <a:t>Comparando modelos de tamanhos diferentes:</a:t>
            </a:r>
          </a:p>
        </p:txBody>
      </p:sp>
      <p:sp>
        <p:nvSpPr>
          <p:cNvPr id="6" name="Rectangle 5"/>
          <p:cNvSpPr/>
          <p:nvPr/>
        </p:nvSpPr>
        <p:spPr>
          <a:xfrm>
            <a:off x="2468880" y="2194560"/>
            <a:ext cx="8503920" cy="71323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468880" y="2194560"/>
            <a:ext cx="6803136" cy="71323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12848"/>
            <a:ext cx="1920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  <a:latin typeface="Calibri"/>
              </a:rPr>
              <a:t>Nemotron Nano (4 bilhões)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17736" y="2212848"/>
            <a:ext cx="7315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E7D32"/>
                </a:solidFill>
                <a:latin typeface="Calibri"/>
              </a:rPr>
              <a:t>80%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8880" y="3154680"/>
            <a:ext cx="8503920" cy="71323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68880" y="3154680"/>
            <a:ext cx="4251960" cy="71323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172968"/>
            <a:ext cx="1920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  <a:latin typeface="Calibri"/>
              </a:rPr>
              <a:t>Qwen 3.5 (9 bilhões)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3172968"/>
            <a:ext cx="7315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65100"/>
                </a:solidFill>
                <a:latin typeface="Calibri"/>
              </a:rPr>
              <a:t>50%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80" y="4114800"/>
            <a:ext cx="8503920" cy="71323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68880" y="4114800"/>
            <a:ext cx="3996842" cy="713232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133087"/>
            <a:ext cx="1920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  <a:latin typeface="Calibri"/>
              </a:rPr>
              <a:t>Gemma 3 (4 bilhões)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1442" y="4133087"/>
            <a:ext cx="7315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42A5F5"/>
                </a:solidFill>
                <a:latin typeface="Calibri"/>
              </a:rPr>
              <a:t>47%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2120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333333"/>
                </a:solidFill>
                <a:latin typeface="Calibri"/>
              </a:rPr>
              <a:t>Nemotron Nano tem 4B parâmetros (MENOS que o Qwen 9B) mas acerta 80% vs 50%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760720"/>
            <a:ext cx="11247120" cy="8229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5833872"/>
            <a:ext cx="1097280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Conclusão: a arquitetura e o treinamento do modelo são mais determinantes
que o número de parâmetros para gerar SPARQL biomédico correto.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Interface explicável (XAI)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alibri"/>
              </a:rPr>
              <a:t>• Interface web desenvolvida em React + FastAPI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488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alibri"/>
              </a:rPr>
              <a:t>• O usuário digita a pergunta em linguagem natural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alibri"/>
              </a:rPr>
              <a:t>• Cada etapa do pipeline é mostrada em tempo real: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632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alibri"/>
              </a:rPr>
              <a:t>   – → Entidades reconhecidas (NER)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204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alibri"/>
              </a:rPr>
              <a:t>   – → Exemplos recuperados (few-shot)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77639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alibri"/>
              </a:rPr>
              <a:t>   – → Consulta SPARQL gerada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4348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alibri"/>
              </a:rPr>
              <a:t>   – → Resultado da validação e tentativas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8920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alibri"/>
              </a:rPr>
              <a:t>   – → Resultado final do banco de dados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3492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alibri"/>
              </a:rPr>
              <a:t>• Alinhada com princípios de IA Explicável (XAI): nada é 'caixa preta'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O que ainda não funciona bem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691640"/>
            <a:ext cx="11612880" cy="1463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2926080" cy="1463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764792"/>
            <a:ext cx="2651760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Hardware como gargalo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1828800"/>
            <a:ext cx="8412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  <a:latin typeface="Calibri"/>
              </a:rPr>
              <a:t>Modelos ≤4B rodam bem em GPU 8GB. O Qwen 9B é 15x mais lento (63s por query). Modelos maiores (&gt;20B) não cabem em hardware comum.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337560"/>
            <a:ext cx="11612880" cy="1463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3337560"/>
            <a:ext cx="2926080" cy="146304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3410712"/>
            <a:ext cx="2651760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Convenções idiossincráticas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3474720"/>
            <a:ext cx="8412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  <a:latin typeface="Calibri"/>
              </a:rPr>
              <a:t>9 perguntas (17%) falham mesmo com o Claude Sonnet. Envolvem incompatibilidades técnicas entre bases (ex: DOID usa 'MIM:' mas HPOA usa 'OMIM:').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4983480"/>
            <a:ext cx="11612880" cy="1463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4983480"/>
            <a:ext cx="2926080" cy="146304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79" y="5056632"/>
            <a:ext cx="2651760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Variabilidade estocástica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5120640"/>
            <a:ext cx="8412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  <a:latin typeface="Calibri"/>
              </a:rPr>
              <a:t>O Gemma 3 4B variou ±3 acertos entre execuções idênticas (temperature=0.1). Resultados não são 100% determinísticos.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5 achados principais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600200"/>
            <a:ext cx="594360" cy="8229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645920"/>
            <a:ext cx="594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62763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  <a:latin typeface="Calibri"/>
              </a:rPr>
              <a:t>Validação é essencial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1168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Gemma: 46% → 25% sem ela; Claude: 83% → 46% — o loop de autocorreção é o componente mais crítico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587752"/>
            <a:ext cx="594360" cy="8229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2633472"/>
            <a:ext cx="594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615184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  <a:latin typeface="Calibri"/>
              </a:rPr>
              <a:t>Arquitetura &gt; tamanho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99923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Nemotron 4B (80%) supera Qwen 9B (50%) — treinamento importa mais que número de parâmetros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575304"/>
            <a:ext cx="594360" cy="82296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3621024"/>
            <a:ext cx="594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602736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  <a:latin typeface="Calibri"/>
              </a:rPr>
              <a:t>Gap local–comercial de 36,5pp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986784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Claude 82,7% vs Gemma 46,2% — cada organização decide: privacidade local ou precisão máxima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562856"/>
            <a:ext cx="594360" cy="82296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4608576"/>
            <a:ext cx="594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59028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  <a:latin typeface="Calibri"/>
              </a:rPr>
              <a:t>Erros irredutíveis existem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974336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9/52 perguntas (17%) falham mesmo com o melhor modelo — limitações intrínsecas dos dados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5550408"/>
            <a:ext cx="594360" cy="82296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5596128"/>
            <a:ext cx="594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5778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  <a:latin typeface="Calibri"/>
              </a:rPr>
              <a:t>Viabilidade local confirmada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96188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46% de acerto com GPU 8GB/modelo 4B — consultas biomédicas sem enviar dados para a nuvem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88952" cy="2743200"/>
          </a:xfrm>
          <a:prstGeom prst="rect">
            <a:avLst/>
          </a:prstGeom>
          <a:solidFill>
            <a:srgbClr val="15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Calibri"/>
              </a:rPr>
              <a:t>Obrigado!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AAC4FF"/>
                </a:solidFill>
                <a:latin typeface="Calibri"/>
              </a:rPr>
              <a:t>Perguntas?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97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Cassiano Ricardo Neubauer Moralles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800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AAC4FF"/>
                </a:solidFill>
                <a:latin typeface="Calibri"/>
              </a:rPr>
              <a:t>cass78@gmail.com  |  PPG Computação Aplicada — UNISINOS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257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8909C"/>
                </a:solidFill>
                <a:latin typeface="Calibri"/>
              </a:rPr>
              <a:t>Código e dados: output/eval_*.json  |  output/ablation_*.json  |  output/relatorio/biosparql-nl.pdf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